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68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041"/>
  </p:normalViewPr>
  <p:slideViewPr>
    <p:cSldViewPr snapToGrid="0">
      <p:cViewPr varScale="1">
        <p:scale>
          <a:sx n="109" d="100"/>
          <a:sy n="109" d="100"/>
        </p:scale>
        <p:origin x="4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A4ED0-D17F-931E-62C1-DA10C16F94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7926A8-6E7E-39EF-0122-11846257AB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AF467-5C05-1628-787B-A81518F05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5ADDD-1DDC-C245-AA35-ACC18AA10419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5DCAF-481C-96F8-888B-859BF615B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E2387-0B62-8BA3-87D4-2F2A77912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AAD5E-A2AE-2E4B-99E6-3A70D50C7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564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3EB4A-2E00-3CE6-9F7E-AD853778E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FBF1D-D78C-BC93-A74E-7099B8D1D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5A6B7-B6AA-9E5C-501B-18992874B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5ADDD-1DDC-C245-AA35-ACC18AA10419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80947-E5F6-FEFC-341E-6A25C1A58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EE720-80BF-7120-7203-DCA31CDE7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AAD5E-A2AE-2E4B-99E6-3A70D50C7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013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A70D5-69AA-D42C-39DE-0C300BA3C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C470BE-3233-0505-992C-F1056AE68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DB0A8-C54C-D37A-7C00-8F9840414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5ADDD-1DDC-C245-AA35-ACC18AA10419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1CCC0-6E39-2B5F-0BFC-722E41629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144B4-1BD2-5F12-7780-438ECBBB8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AAD5E-A2AE-2E4B-99E6-3A70D50C7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314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73A17-08BA-F855-B7F5-76794B9D8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F6B60-B58B-8C35-07D2-434282ED92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1313FF-0DA1-94EF-4925-DB398729B9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F1326F-507E-87CB-9E07-1B22ECD7A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5ADDD-1DDC-C245-AA35-ACC18AA10419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CE2B98-4B53-B1FD-0A84-357BDE914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A3535F-84C1-0435-D8E9-835C94D47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AAD5E-A2AE-2E4B-99E6-3A70D50C7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912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415A6-D5F9-439C-C4E1-290AF6B74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B865CB-9067-B3A9-E722-AD1F378B9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2C305-E438-AEF7-5D12-FDA4ECE46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E95EEA-AD80-BF42-6A70-6A2831EE48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E55651-53A6-D5A7-CFBE-E515D86FB7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512C01-7F14-3123-FD60-7E1372B5A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5ADDD-1DDC-C245-AA35-ACC18AA10419}" type="datetimeFigureOut">
              <a:rPr lang="en-US" smtClean="0"/>
              <a:t>6/2/26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8EE7A7-A71D-8161-F9DF-10290398B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0E8C6E-DE7F-3350-60D6-29D7B662B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AAD5E-A2AE-2E4B-99E6-3A70D50C7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676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57198-DC0D-BE1A-3823-32EBD438D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3615BB-5B78-86A9-2E7F-499FAB012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5ADDD-1DDC-C245-AA35-ACC18AA10419}" type="datetimeFigureOut">
              <a:rPr lang="en-US" smtClean="0"/>
              <a:t>6/2/26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EE439B-6A0B-CB67-7911-3146B5694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477D94-6C92-C124-BA7C-90FFD4A0C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AAD5E-A2AE-2E4B-99E6-3A70D50C7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167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F2353D-382E-035A-19EA-9CD7A6798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5ADDD-1DDC-C245-AA35-ACC18AA10419}" type="datetimeFigureOut">
              <a:rPr lang="en-US" smtClean="0"/>
              <a:t>6/2/26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B6EBB4-7D3A-543D-A39B-723401AD4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AA90E-5ED7-9C0E-1AA7-23535EF7E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AAD5E-A2AE-2E4B-99E6-3A70D50C7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051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5F1E0-F255-135A-0B3D-642E3E492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ECEBD-740C-FE0E-F59E-203A0F609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0D88CC-30C9-DA3E-BEAB-31ADDDD0D8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3E7545-70DF-17A7-78B7-E1755C642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5ADDD-1DDC-C245-AA35-ACC18AA10419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245F6A-DBD2-A3EA-D189-6C77CF955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B0251E-95DF-D198-C1F0-9E83853C2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AAD5E-A2AE-2E4B-99E6-3A70D50C7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602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823B7-29A0-E1B0-EB1E-72A4467AA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4F2F81-562D-705E-ECE1-A27D4D5305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80A741-CA76-644A-26B6-953D1655FE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C86E06-8A63-9029-21A4-D711BD4A5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5ADDD-1DDC-C245-AA35-ACC18AA10419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043FCA-9915-6F51-1394-1771F177F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14BC47-87A0-90A1-C2B3-90B8ED4D4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AAD5E-A2AE-2E4B-99E6-3A70D50C7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08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85006-BA6B-D710-CBBD-E1ED3A779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68F6C2-D6E1-95D9-849B-24F9D6C54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60A5B-EACA-29A8-56E0-18537F749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5ADDD-1DDC-C245-AA35-ACC18AA10419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1E7B3-4902-671D-5BBA-D81785CEE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2B705-3474-9EC8-CDB7-2BAF63EC7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AAD5E-A2AE-2E4B-99E6-3A70D50C7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767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FB3A37-FD08-FE6A-C7C7-5FAB1D0084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2ED616-D802-A60D-90FA-3EDB9DA5C9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EFE5C-95A3-638E-9789-B4C25E96B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5ADDD-1DDC-C245-AA35-ACC18AA10419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52EC7-1AE7-1163-9AC6-6939E297B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45268-21A5-8D14-FFE5-27B2FB357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AAD5E-A2AE-2E4B-99E6-3A70D50C7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030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478546-C3D3-E708-AE3F-E226FAA4D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262E3F-705A-64E4-9FDC-E04EC4787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C49EE-4995-54FD-CE87-79F7FED8A9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B5ADDD-1DDC-C245-AA35-ACC18AA10419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157A9-9100-B679-3344-D326FD7096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68F15-704E-3DD8-F848-22C43A4187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0AAD5E-A2AE-2E4B-99E6-3A70D50C7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261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255A1A91-A99B-FE9C-2FE2-1EAABBDD9B60}"/>
              </a:ext>
            </a:extLst>
          </p:cNvPr>
          <p:cNvSpPr/>
          <p:nvPr/>
        </p:nvSpPr>
        <p:spPr>
          <a:xfrm>
            <a:off x="4020563" y="197995"/>
            <a:ext cx="2810933" cy="2624667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STEADY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Seasonal to monthly forecast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B1BEE22-E595-C158-5A12-0A3565F3FCF0}"/>
              </a:ext>
            </a:extLst>
          </p:cNvPr>
          <p:cNvSpPr/>
          <p:nvPr/>
        </p:nvSpPr>
        <p:spPr>
          <a:xfrm>
            <a:off x="362966" y="197997"/>
            <a:ext cx="2810933" cy="262466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READY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Multi-annual forecast</a:t>
            </a: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4E457E4B-42F0-77C2-EC36-808F9B045CFF}"/>
              </a:ext>
            </a:extLst>
          </p:cNvPr>
          <p:cNvSpPr/>
          <p:nvPr/>
        </p:nvSpPr>
        <p:spPr>
          <a:xfrm>
            <a:off x="3173899" y="1209763"/>
            <a:ext cx="1151467" cy="601133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cap="rnd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BAC7100-A28A-E09C-BEAC-72F12B182E95}"/>
              </a:ext>
            </a:extLst>
          </p:cNvPr>
          <p:cNvSpPr/>
          <p:nvPr/>
        </p:nvSpPr>
        <p:spPr>
          <a:xfrm>
            <a:off x="7633547" y="248799"/>
            <a:ext cx="2810933" cy="262466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ACTION</a:t>
            </a:r>
          </a:p>
          <a:p>
            <a:pPr algn="ctr"/>
            <a:r>
              <a:rPr lang="en-US" sz="2800" b="1" dirty="0">
                <a:solidFill>
                  <a:schemeClr val="tx1"/>
                </a:solidFill>
              </a:rPr>
              <a:t>/GO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7DA8EFA1-3D8D-6404-C0F9-D097620E021B}"/>
              </a:ext>
            </a:extLst>
          </p:cNvPr>
          <p:cNvSpPr/>
          <p:nvPr/>
        </p:nvSpPr>
        <p:spPr>
          <a:xfrm>
            <a:off x="6814976" y="1192833"/>
            <a:ext cx="1151467" cy="601133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cap="rnd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26E723E-5B3C-E030-4E4E-446A196FDF6D}"/>
              </a:ext>
            </a:extLst>
          </p:cNvPr>
          <p:cNvSpPr/>
          <p:nvPr/>
        </p:nvSpPr>
        <p:spPr>
          <a:xfrm rot="16200000">
            <a:off x="9958884" y="941939"/>
            <a:ext cx="2573863" cy="114298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Target season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C00D158-7DCF-58A8-99E7-0BAF0CD332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245103"/>
              </p:ext>
            </p:extLst>
          </p:nvPr>
        </p:nvGraphicFramePr>
        <p:xfrm>
          <a:off x="750277" y="2951601"/>
          <a:ext cx="9601200" cy="34843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48612">
                  <a:extLst>
                    <a:ext uri="{9D8B030D-6E8A-4147-A177-3AD203B41FA5}">
                      <a16:colId xmlns:a16="http://schemas.microsoft.com/office/drawing/2014/main" val="3932057960"/>
                    </a:ext>
                  </a:extLst>
                </a:gridCol>
                <a:gridCol w="3098236">
                  <a:extLst>
                    <a:ext uri="{9D8B030D-6E8A-4147-A177-3AD203B41FA5}">
                      <a16:colId xmlns:a16="http://schemas.microsoft.com/office/drawing/2014/main" val="3263041488"/>
                    </a:ext>
                  </a:extLst>
                </a:gridCol>
                <a:gridCol w="3254352">
                  <a:extLst>
                    <a:ext uri="{9D8B030D-6E8A-4147-A177-3AD203B41FA5}">
                      <a16:colId xmlns:a16="http://schemas.microsoft.com/office/drawing/2014/main" val="3934210704"/>
                    </a:ext>
                  </a:extLst>
                </a:gridCol>
              </a:tblGrid>
              <a:tr h="3484368">
                <a:tc>
                  <a:txBody>
                    <a:bodyPr/>
                    <a:lstStyle/>
                    <a:p>
                      <a:pPr marL="342900" lvl="0" indent="-342900" algn="just">
                        <a:buFont typeface="Symbol" pitchFamily="2" charset="2"/>
                        <a:buChar char=""/>
                      </a:pPr>
                      <a:endParaRPr lang="en-GB" sz="15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just">
                        <a:buFont typeface="Symbol" pitchFamily="2" charset="2"/>
                        <a:buChar char=""/>
                      </a:pPr>
                      <a:r>
                        <a:rPr lang="en-GB" sz="16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Long lead time forecast indicates potential frost risk.</a:t>
                      </a:r>
                    </a:p>
                    <a:p>
                      <a:pPr marL="287020" indent="-228600" algn="just">
                        <a:buNone/>
                      </a:pPr>
                      <a:r>
                        <a:rPr lang="en-GB" sz="16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342900" lvl="0" indent="-342900" algn="just">
                        <a:buFont typeface="Symbol" pitchFamily="2" charset="2"/>
                        <a:buChar char=""/>
                      </a:pPr>
                      <a:r>
                        <a:rPr lang="en-GB" sz="16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interannual climate variability signal provides early warning of the potential risk to the users. </a:t>
                      </a:r>
                    </a:p>
                    <a:p>
                      <a:pPr marL="287020" algn="just">
                        <a:buNone/>
                      </a:pPr>
                      <a:r>
                        <a:rPr lang="en-GB" sz="16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342900" lvl="0" indent="-342900" algn="just">
                        <a:buFont typeface="Symbol" pitchFamily="2" charset="2"/>
                        <a:buChar char=""/>
                      </a:pPr>
                      <a:r>
                        <a:rPr lang="en-GB" sz="16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Multi-annual forecast provides maximum potential benefit to the users</a:t>
                      </a:r>
                      <a:r>
                        <a:rPr lang="en-GB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GB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lvl="0" indent="-342900" algn="just">
                        <a:buFont typeface="Symbol" pitchFamily="2" charset="2"/>
                        <a:buChar char=""/>
                      </a:pPr>
                      <a:endParaRPr lang="en-GB" sz="15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just">
                        <a:buFont typeface="Symbol" pitchFamily="2" charset="2"/>
                        <a:buChar char=""/>
                      </a:pPr>
                      <a:r>
                        <a:rPr lang="en-GB" sz="16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Update forecast: Keep on monitoring risk as the new forecast available.</a:t>
                      </a:r>
                    </a:p>
                    <a:p>
                      <a:pPr algn="just">
                        <a:buNone/>
                      </a:pPr>
                      <a:r>
                        <a:rPr lang="en-GB" sz="16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342900" lvl="0" indent="-342900" algn="just">
                        <a:buFont typeface="Symbol" pitchFamily="2" charset="2"/>
                        <a:buChar char=""/>
                      </a:pPr>
                      <a:r>
                        <a:rPr lang="en-GB" sz="16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persistent forecast signal of the frost risk  increases confidence in the likelihood of the potential hazard.</a:t>
                      </a:r>
                    </a:p>
                    <a:p>
                      <a:pPr marL="199390" algn="just">
                        <a:buNone/>
                      </a:pPr>
                      <a:r>
                        <a:rPr lang="en-GB" sz="16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342900" lvl="0" indent="-342900" algn="just">
                        <a:buFont typeface="Symbol" pitchFamily="2" charset="2"/>
                        <a:buChar char=""/>
                      </a:pPr>
                      <a:r>
                        <a:rPr lang="en-GB" sz="16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helps users to start preparing for a potential hazard such as training people, acquiring equipment etc.</a:t>
                      </a:r>
                      <a:endParaRPr lang="en-GB" sz="16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lvl="0" indent="-342900" algn="just">
                        <a:buFont typeface="Symbol" pitchFamily="2" charset="2"/>
                        <a:buChar char=""/>
                      </a:pPr>
                      <a:endParaRPr lang="en-GB" sz="15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just">
                        <a:buFont typeface="Symbol" pitchFamily="2" charset="2"/>
                        <a:buChar char=""/>
                      </a:pPr>
                      <a:r>
                        <a:rPr lang="en-GB" sz="16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 shorter lead time sub-seasonal and weather forecast can be used in conjunction with the seamless multi-annual forecast.</a:t>
                      </a:r>
                    </a:p>
                    <a:p>
                      <a:pPr marL="342900" lvl="0" indent="-342900" algn="just">
                        <a:buFont typeface="Symbol" pitchFamily="2" charset="2"/>
                        <a:buChar char=""/>
                      </a:pPr>
                      <a:endParaRPr lang="en-GB" sz="16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just">
                        <a:buFont typeface="Symbol" pitchFamily="2" charset="2"/>
                        <a:buChar char=""/>
                      </a:pPr>
                      <a:r>
                        <a:rPr lang="en-GB" sz="16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Combining long lead time and short lead time forecast sharpens user’s confidence, enable them  to take action to mitigate impact of the potential hazard.</a:t>
                      </a:r>
                      <a:endParaRPr lang="en-GB" sz="16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655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1185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147</Words>
  <Application>Microsoft Macintosh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Symbol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Abid</dc:creator>
  <cp:lastModifiedBy>Muhammad Abid</cp:lastModifiedBy>
  <cp:revision>5</cp:revision>
  <dcterms:created xsi:type="dcterms:W3CDTF">2025-04-03T11:50:19Z</dcterms:created>
  <dcterms:modified xsi:type="dcterms:W3CDTF">2026-06-02T16:03:43Z</dcterms:modified>
</cp:coreProperties>
</file>